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6"/>
  </p:notesMasterIdLst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6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7" Type="http://schemas.openxmlformats.org/officeDocument/2006/relationships/presProps" Target="presProps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0202E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2317" r="0" b="2317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0202E"/>
              </a:gs>
              <a:gs pos="38000">
                <a:srgbClr val="10202E"/>
              </a:gs>
              <a:gs pos="52000">
                <a:srgbClr val="10202E">
                  <a:alpha val="88000"/>
                </a:srgbClr>
              </a:gs>
              <a:gs pos="78000">
                <a:srgbClr val="10202E">
                  <a:alpha val="18000"/>
                </a:srgbClr>
              </a:gs>
              <a:gs pos="100000">
                <a:srgbClr val="10202E">
                  <a:alpha val="5000"/>
                </a:srgbClr>
              </a:gs>
            </a:gsLst>
            <a:lin ang="6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23900" y="876300"/>
            <a:ext cx="4876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80">
                <a:solidFill>
                  <a:srgbClr val="7C93A3"/>
                </a:solidFill>
                <a:latin typeface="Source Han Sans SC"/>
                <a:ea typeface="Source Han Sans SC"/>
              </a:rPr>
              <a:t>星禾数智</a:t>
            </a:r>
            <a:r>
              <a:rPr lang="en-US" sz="900" b="1" spc="180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00" b="1" spc="180">
                <a:solidFill>
                  <a:srgbClr val="7C93A3"/>
                </a:solidFill>
                <a:latin typeface="Source Han Sans SC"/>
                <a:ea typeface="Source Han Sans SC"/>
              </a:rPr>
              <a:t>招聘数字化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23900" y="1228725"/>
            <a:ext cx="4876800" cy="7620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050" b="1" spc="-37">
                <a:solidFill>
                  <a:srgbClr val="FBF8F4"/>
                </a:solidFill>
                <a:latin typeface="Source Han Sans SC"/>
                <a:ea typeface="Source Han Sans SC"/>
              </a:rPr>
              <a:t>智能招聘辅助平台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23900" y="2085975"/>
            <a:ext cx="48768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>
                <a:solidFill>
                  <a:srgbClr val="7C93A3"/>
                </a:solidFill>
                <a:latin typeface="Source Han Sans SC"/>
                <a:ea typeface="Source Han Sans SC"/>
              </a:rPr>
              <a:t>阶段交付汇报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23900" y="3248025"/>
            <a:ext cx="495300" cy="28575"/>
          </a:xfrm>
          <a:prstGeom prst="rect">
            <a:avLst/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23900" y="3467100"/>
            <a:ext cx="4876800" cy="1171575"/>
          </a:xfrm>
          <a:prstGeom prst="rect"/>
        </p:spPr>
        <p:txBody>
          <a:bodyPr wrap="none" lIns="0" tIns="0" rIns="0" bIns="0"/>
          <a:p>
            <a:pPr>
              <a:lnSpc>
                <a:spcPct val="162000"/>
              </a:lnSpc>
            </a:pPr>
            <a:r>
              <a:rPr lang="zh-CN" sz="1575" b="1">
                <a:solidFill>
                  <a:srgbClr val="FBF8F4"/>
                </a:solidFill>
                <a:latin typeface="Source Han Sans SC"/>
                <a:ea typeface="Source Han Sans SC"/>
              </a:rPr>
              <a:t>交付物已真实上线并跑通全链路，</a:t>
            </a:r>
            <a:endParaRPr/>
          </a:p>
          <a:p>
            <a:pPr>
              <a:lnSpc>
                <a:spcPct val="162000"/>
              </a:lnSpc>
            </a:pPr>
            <a:r>
              <a:rPr lang="en-US" sz="1575" b="1">
                <a:solidFill>
                  <a:srgbClr val="FBF8F4"/>
                </a:solidFill>
                <a:latin typeface="Source Han Sans SC"/>
                <a:ea typeface="Source Han Sans SC"/>
              </a:rPr>
              <a:t xml:space="preserve">26 </a:t>
            </a:r>
            <a:r>
              <a:rPr lang="zh-CN" sz="1575" b="1">
                <a:solidFill>
                  <a:srgbClr val="FBF8F4"/>
                </a:solidFill>
                <a:latin typeface="Source Han Sans SC"/>
                <a:ea typeface="Source Han Sans SC"/>
              </a:rPr>
              <a:t>项合规红线用例全部通过，</a:t>
            </a:r>
            <a:endParaRPr/>
          </a:p>
          <a:p>
            <a:pPr>
              <a:lnSpc>
                <a:spcPct val="162000"/>
              </a:lnSpc>
            </a:pPr>
            <a:r>
              <a:rPr lang="zh-CN" sz="1575" b="1">
                <a:solidFill>
                  <a:srgbClr val="E88A63"/>
                </a:solidFill>
                <a:latin typeface="Source Han Sans SC"/>
                <a:ea typeface="Source Han Sans SC"/>
              </a:rPr>
              <a:t>具备进入试运行的条件。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23900" y="4810125"/>
            <a:ext cx="48768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7C93A3"/>
                </a:solidFill>
                <a:latin typeface="Source Han Sans SC"/>
                <a:ea typeface="Source Han Sans SC"/>
              </a:rPr>
              <a:t>依据｜公网</a:t>
            </a:r>
            <a:r>
              <a:rPr lang="en-US" sz="975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/health </a:t>
            </a:r>
            <a:r>
              <a:rPr lang="zh-CN" sz="975">
                <a:solidFill>
                  <a:srgbClr val="7C93A3"/>
                </a:solidFill>
                <a:latin typeface="Source Han Sans SC"/>
                <a:ea typeface="Source Han Sans SC"/>
              </a:rPr>
              <a:t>返回</a:t>
            </a:r>
            <a:r>
              <a:rPr lang="en-US" sz="975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200</a:t>
            </a:r>
            <a:r>
              <a:rPr lang="zh-CN" sz="975">
                <a:solidFill>
                  <a:srgbClr val="7C93A3"/>
                </a:solidFill>
                <a:latin typeface="Source Han Sans SC"/>
                <a:ea typeface="Source Han Sans SC"/>
              </a:rPr>
              <a:t>（</a:t>
            </a:r>
            <a:r>
              <a:rPr lang="en-US" sz="975">
                <a:solidFill>
                  <a:srgbClr val="7C93A3"/>
                </a:solidFill>
                <a:latin typeface="Source Han Sans SC"/>
                <a:ea typeface="Source Han Sans SC"/>
              </a:rPr>
              <a:t>99ms</a:t>
            </a:r>
            <a:r>
              <a:rPr lang="zh-CN" sz="975">
                <a:solidFill>
                  <a:srgbClr val="7C93A3"/>
                </a:solidFill>
                <a:latin typeface="Source Han Sans SC"/>
                <a:ea typeface="Source Han Sans SC"/>
              </a:rPr>
              <a:t>）·</a:t>
            </a:r>
            <a:r>
              <a:rPr lang="en-US" sz="975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75">
                <a:solidFill>
                  <a:srgbClr val="7C93A3"/>
                </a:solidFill>
                <a:latin typeface="Source Han Sans SC"/>
                <a:ea typeface="Source Han Sans SC"/>
              </a:rPr>
              <a:t>自动化用例</a:t>
            </a:r>
            <a:r>
              <a:rPr lang="en-US" sz="975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26/26 · </a:t>
            </a:r>
            <a:r>
              <a:rPr lang="zh-CN" sz="975">
                <a:solidFill>
                  <a:srgbClr val="7C93A3"/>
                </a:solidFill>
                <a:latin typeface="Source Han Sans SC"/>
                <a:ea typeface="Source Han Sans SC"/>
              </a:rPr>
              <a:t>线上</a:t>
            </a:r>
            <a:r>
              <a:rPr lang="en-US" sz="975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app.js </a:t>
            </a:r>
            <a:r>
              <a:rPr lang="zh-CN" sz="975">
                <a:solidFill>
                  <a:srgbClr val="7C93A3"/>
                </a:solidFill>
                <a:latin typeface="Source Han Sans SC"/>
                <a:ea typeface="Source Han Sans SC"/>
              </a:rPr>
              <a:t>已含本次全部新功能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723900" y="5991225"/>
            <a:ext cx="4724400" cy="9525"/>
          </a:xfrm>
          <a:prstGeom prst="rect">
            <a:avLst/>
          </a:prstGeom>
          <a:solidFill>
            <a:srgbClr val="FBF8F4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23900" y="6134100"/>
            <a:ext cx="66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">
                <a:solidFill>
                  <a:srgbClr val="7C93A3"/>
                </a:solidFill>
                <a:latin typeface="Inter"/>
                <a:ea typeface="Inter"/>
              </a:rPr>
              <a:t>2026.10.25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200525" y="61341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">
                <a:solidFill>
                  <a:srgbClr val="7C93A3"/>
                </a:solidFill>
                <a:latin typeface="Inter"/>
                <a:ea typeface="Inter"/>
              </a:rPr>
              <a:t>62.234.152.249:8080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-38100"/>
            <a:ext cx="12192000" cy="6858000"/>
          </a:xfrm>
          <a:prstGeom prst="rect">
            <a:avLst/>
          </a:prstGeom>
          <a:solidFill>
            <a:srgbClr val="FBF8F4"/>
          </a:solidFill>
          <a:ln/>
        </p:spPr>
        <p:txBody>
          <a:bodyPr/>
          <a:p>
            <a:pPr/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09600" y="962025"/>
            <a:ext cx="38100" cy="285750"/>
          </a:xfrm>
          <a:prstGeom prst="rect">
            <a:avLst/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81050" y="228600"/>
            <a:ext cx="102870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2550" b="1" spc="-22">
                <a:solidFill>
                  <a:srgbClr val="10202E"/>
                </a:solidFill>
                <a:latin typeface="Source Han Sans SC"/>
                <a:ea typeface="Source Han Sans SC"/>
              </a:rPr>
              <a:t>要解决的不是「缺</a:t>
            </a:r>
            <a:r>
              <a:rPr lang="en-US" sz="2550" b="1" spc="-22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 AI</a:t>
            </a:r>
            <a:r>
              <a:rPr lang="zh-CN" sz="2550" b="1" spc="-22">
                <a:solidFill>
                  <a:srgbClr val="10202E"/>
                </a:solidFill>
                <a:latin typeface="Source Han Sans SC"/>
                <a:ea typeface="Source Han Sans SC"/>
              </a:rPr>
              <a:t>」，是「说不清」和「筛不过来」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81050" y="1295400"/>
            <a:ext cx="102870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7C93A3"/>
                </a:solidFill>
                <a:latin typeface="Source Han Sans SC"/>
                <a:ea typeface="Source Han Sans SC"/>
              </a:rPr>
              <a:t>客户的原始诉求是「用</a:t>
            </a:r>
            <a:r>
              <a:rPr lang="en-US" sz="1200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AI </a:t>
            </a:r>
            <a:r>
              <a:rPr lang="zh-CN" sz="1200">
                <a:solidFill>
                  <a:srgbClr val="7C93A3"/>
                </a:solidFill>
                <a:latin typeface="Source Han Sans SC"/>
                <a:ea typeface="Source Han Sans SC"/>
              </a:rPr>
              <a:t>提效」，但同一句话里也划死了三条不能碰的线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1581150"/>
            <a:ext cx="6705600" cy="116205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10202E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781050" y="1666875"/>
            <a:ext cx="285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C85A32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66800" y="1666875"/>
            <a:ext cx="2095500" cy="266700"/>
          </a:xfrm>
          <a:prstGeom prst="rect"/>
        </p:spPr>
        <p:txBody>
          <a:bodyPr wrap="none" lIns="0" tIns="0" rIns="0" bIns="0"/>
          <a:p>
            <a:pPr>
              <a:lnSpc>
                <a:spcPct val="132000"/>
              </a:lnSpc>
            </a:pPr>
            <a:r>
              <a:rPr lang="en-US" sz="1313" b="1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JD </a:t>
            </a:r>
            <a:r>
              <a:rPr lang="zh-CN" sz="1313" b="1">
                <a:solidFill>
                  <a:srgbClr val="10202E"/>
                </a:solidFill>
                <a:latin typeface="Source Han Sans SC"/>
                <a:ea typeface="Source Han Sans SC"/>
              </a:rPr>
              <a:t>靠口头传递，标准不统一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781050" y="1971675"/>
            <a:ext cx="63627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6000"/>
              </a:lnSpc>
            </a:pPr>
            <a:r>
              <a:rPr lang="zh-CN" sz="975">
                <a:solidFill>
                  <a:srgbClr val="10202E">
                    <a:alpha val="72000"/>
                  </a:srgbClr>
                </a:solidFill>
                <a:latin typeface="Source Han Sans SC"/>
                <a:ea typeface="Source Han Sans SC"/>
              </a:rPr>
              <a:t>条件写在文档里、边界靠会议讲，专员理解到的和用人部门想确认的常是两回事；同一个人，换个部门看就是两个结论。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781050" y="2381250"/>
            <a:ext cx="6362700" cy="285750"/>
          </a:xfrm>
          <a:custGeom>
            <a:pathLst>
              <a:path w="668" h="30">
                <a:moveTo>
                  <a:pt x="0" y="0"/>
                </a:moveTo>
                <a:lnTo>
                  <a:pt x="668" y="0"/>
                </a:lnTo>
                <a:lnTo>
                  <a:pt x="668" y="1"/>
                </a:lnTo>
                <a:lnTo>
                  <a:pt x="0" y="1"/>
                </a:lnTo>
                <a:close/>
              </a:path>
            </a:pathLst>
          </a:custGeom>
          <a:solidFill>
            <a:srgbClr val="10202E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81050" y="2486025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7C93A3"/>
                </a:solidFill>
                <a:latin typeface="Source Han Sans SC"/>
                <a:ea typeface="Source Han Sans SC"/>
              </a:rPr>
              <a:t>所以系统必须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504950" y="2447925"/>
            <a:ext cx="5505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10202E"/>
                </a:solidFill>
                <a:latin typeface="Source Han Sans SC"/>
                <a:ea typeface="Source Han Sans SC"/>
              </a:rPr>
              <a:t>把条件与权重固化成可确认的版本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09600" y="2809875"/>
            <a:ext cx="6705600" cy="1162050"/>
          </a:xfrm>
          <a:prstGeom prst="roundRect">
            <a:avLst>
              <a:gd name="adj" fmla="val 2459"/>
            </a:avLst>
          </a:prstGeom>
          <a:solidFill>
            <a:srgbClr val="C85A32">
              <a:alpha val="4500"/>
            </a:srgbClr>
          </a:solidFill>
          <a:ln w="12700">
            <a:solidFill>
              <a:srgbClr val="C85A32">
                <a:alpha val="3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81050" y="2895600"/>
            <a:ext cx="285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C85A32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066800" y="2895600"/>
            <a:ext cx="2333625" cy="266700"/>
          </a:xfrm>
          <a:prstGeom prst="rect"/>
        </p:spPr>
        <p:txBody>
          <a:bodyPr wrap="none" lIns="0" tIns="0" rIns="0" bIns="0"/>
          <a:p>
            <a:pPr>
              <a:lnSpc>
                <a:spcPct val="132000"/>
              </a:lnSpc>
            </a:pPr>
            <a:r>
              <a:rPr lang="zh-CN" sz="1313" b="1">
                <a:solidFill>
                  <a:srgbClr val="10202E"/>
                </a:solidFill>
                <a:latin typeface="Source Han Sans SC"/>
                <a:ea typeface="Source Han Sans SC"/>
              </a:rPr>
              <a:t>简历初筛靠人逐份读，筛不过来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81050" y="3200400"/>
            <a:ext cx="63627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6000"/>
              </a:lnSpc>
            </a:pPr>
            <a:r>
              <a:rPr lang="zh-CN" sz="975">
                <a:solidFill>
                  <a:srgbClr val="10202E">
                    <a:alpha val="72000"/>
                  </a:srgbClr>
                </a:solidFill>
                <a:latin typeface="Source Han Sans SC"/>
                <a:ea typeface="Source Han Sans SC"/>
              </a:rPr>
              <a:t>岗位一开就是几十份</a:t>
            </a:r>
            <a:r>
              <a:rPr lang="en-US" sz="975">
                <a:solidFill>
                  <a:srgbClr val="10202E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PDF</a:t>
            </a:r>
            <a:r>
              <a:rPr lang="zh-CN" sz="975">
                <a:solidFill>
                  <a:srgbClr val="10202E">
                    <a:alpha val="72000"/>
                  </a:srgbClr>
                </a:solidFill>
                <a:latin typeface="Source Han Sans SC"/>
                <a:ea typeface="Source Han Sans SC"/>
              </a:rPr>
              <a:t>，格式各异，只能一份份点开、凭经验对照条件手工摘信息；人一累口径就飘，两份简历会用两套尺子。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781050" y="3609975"/>
            <a:ext cx="6362700" cy="285750"/>
          </a:xfrm>
          <a:custGeom>
            <a:pathLst>
              <a:path w="668" h="30">
                <a:moveTo>
                  <a:pt x="0" y="0"/>
                </a:moveTo>
                <a:lnTo>
                  <a:pt x="668" y="0"/>
                </a:lnTo>
                <a:lnTo>
                  <a:pt x="668" y="1"/>
                </a:lnTo>
                <a:lnTo>
                  <a:pt x="0" y="1"/>
                </a:lnTo>
                <a:close/>
              </a:path>
            </a:pathLst>
          </a:custGeom>
          <a:solidFill>
            <a:srgbClr val="10202E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81050" y="3714750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7C93A3"/>
                </a:solidFill>
                <a:latin typeface="Source Han Sans SC"/>
                <a:ea typeface="Source Han Sans SC"/>
              </a:rPr>
              <a:t>所以系统必须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504950" y="3676650"/>
            <a:ext cx="5505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 b="1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AI </a:t>
            </a:r>
            <a:r>
              <a:rPr lang="zh-CN" sz="975" b="1">
                <a:solidFill>
                  <a:srgbClr val="10202E"/>
                </a:solidFill>
                <a:latin typeface="Source Han Sans SC"/>
                <a:ea typeface="Source Han Sans SC"/>
              </a:rPr>
              <a:t>解析简历，逐条比对岗位条件并给出匹配评分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09600" y="4038600"/>
            <a:ext cx="6705600" cy="1162050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10202E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81050" y="4124325"/>
            <a:ext cx="285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C85A32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66800" y="4124325"/>
            <a:ext cx="2000250" cy="266700"/>
          </a:xfrm>
          <a:prstGeom prst="rect"/>
        </p:spPr>
        <p:txBody>
          <a:bodyPr wrap="none" lIns="0" tIns="0" rIns="0" bIns="0"/>
          <a:p>
            <a:pPr>
              <a:lnSpc>
                <a:spcPct val="132000"/>
              </a:lnSpc>
            </a:pPr>
            <a:r>
              <a:rPr lang="zh-CN" sz="1313" b="1">
                <a:solidFill>
                  <a:srgbClr val="10202E"/>
                </a:solidFill>
                <a:latin typeface="Source Han Sans SC"/>
                <a:ea typeface="Source Han Sans SC"/>
              </a:rPr>
              <a:t>推荐靠微信催，依据查不到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81050" y="4429125"/>
            <a:ext cx="63627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6000"/>
              </a:lnSpc>
            </a:pPr>
            <a:r>
              <a:rPr lang="zh-CN" sz="975">
                <a:solidFill>
                  <a:srgbClr val="10202E">
                    <a:alpha val="72000"/>
                  </a:srgbClr>
                </a:solidFill>
                <a:latin typeface="Source Han Sans SC"/>
                <a:ea typeface="Source Han Sans SC"/>
              </a:rPr>
              <a:t>对照口径留在个人经验里，推荐时说得出</a:t>
            </a:r>
            <a:r>
              <a:rPr lang="en-US" sz="975">
                <a:solidFill>
                  <a:srgbClr val="10202E">
                    <a:alpha val="72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10202E">
                    <a:alpha val="72000"/>
                  </a:srgbClr>
                </a:solidFill>
                <a:latin typeface="Source Han Sans SC"/>
                <a:ea typeface="Source Han Sans SC"/>
              </a:rPr>
              <a:t>感觉合适</a:t>
            </a:r>
            <a:r>
              <a:rPr lang="en-US" sz="975">
                <a:solidFill>
                  <a:srgbClr val="10202E">
                    <a:alpha val="72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975">
                <a:solidFill>
                  <a:srgbClr val="10202E">
                    <a:alpha val="72000"/>
                  </a:srgbClr>
                </a:solidFill>
                <a:latin typeface="Source Han Sans SC"/>
                <a:ea typeface="Source Han Sans SC"/>
              </a:rPr>
              <a:t>却说不清依据；催办散在聊天记录，事后无法复盘卡在哪版条件上。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781050" y="4838700"/>
            <a:ext cx="6362700" cy="285750"/>
          </a:xfrm>
          <a:custGeom>
            <a:pathLst>
              <a:path w="668" h="30">
                <a:moveTo>
                  <a:pt x="0" y="0"/>
                </a:moveTo>
                <a:lnTo>
                  <a:pt x="668" y="0"/>
                </a:lnTo>
                <a:lnTo>
                  <a:pt x="668" y="1"/>
                </a:lnTo>
                <a:lnTo>
                  <a:pt x="0" y="1"/>
                </a:lnTo>
                <a:close/>
              </a:path>
            </a:pathLst>
          </a:custGeom>
          <a:solidFill>
            <a:srgbClr val="10202E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81050" y="4943475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7C93A3"/>
                </a:solidFill>
                <a:latin typeface="Source Han Sans SC"/>
                <a:ea typeface="Source Han Sans SC"/>
              </a:rPr>
              <a:t>所以系统必须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504950" y="4905375"/>
            <a:ext cx="5505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10202E"/>
                </a:solidFill>
                <a:latin typeface="Source Han Sans SC"/>
                <a:ea typeface="Source Han Sans SC"/>
              </a:rPr>
              <a:t>每条判定带原文证据，推荐必须填理由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5267325"/>
            <a:ext cx="6705600" cy="962025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10202E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81050" y="5353050"/>
            <a:ext cx="285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C85A32"/>
                </a:solidFill>
                <a:latin typeface="Inter"/>
                <a:ea typeface="Inter"/>
              </a:rPr>
              <a:t>04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066800" y="5353050"/>
            <a:ext cx="2333625" cy="266700"/>
          </a:xfrm>
          <a:prstGeom prst="rect"/>
        </p:spPr>
        <p:txBody>
          <a:bodyPr wrap="none" lIns="0" tIns="0" rIns="0" bIns="0"/>
          <a:p>
            <a:pPr>
              <a:lnSpc>
                <a:spcPct val="132000"/>
              </a:lnSpc>
            </a:pPr>
            <a:r>
              <a:rPr lang="zh-CN" sz="1313" b="1">
                <a:solidFill>
                  <a:srgbClr val="10202E"/>
                </a:solidFill>
                <a:latin typeface="Source Han Sans SC"/>
                <a:ea typeface="Source Han Sans SC"/>
              </a:rPr>
              <a:t>等待时长不可见，卡点无人认领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781050" y="5657850"/>
            <a:ext cx="6362700" cy="209550"/>
          </a:xfrm>
          <a:prstGeom prst="rect"/>
        </p:spPr>
        <p:txBody>
          <a:bodyPr wrap="none" lIns="0" tIns="0" rIns="0" bIns="0"/>
          <a:p>
            <a:pPr>
              <a:lnSpc>
                <a:spcPct val="136000"/>
              </a:lnSpc>
            </a:pPr>
            <a:r>
              <a:rPr lang="zh-CN" sz="975">
                <a:solidFill>
                  <a:srgbClr val="10202E">
                    <a:alpha val="72000"/>
                  </a:srgbClr>
                </a:solidFill>
                <a:latin typeface="Source Han Sans SC"/>
                <a:ea typeface="Source Han Sans SC"/>
              </a:rPr>
              <a:t>简历停在谁那里、停了几天，没人说得清。负责人看得到结果、看不到过程，也就定位不了真正的瓶颈。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81050" y="5867400"/>
            <a:ext cx="6362700" cy="285750"/>
          </a:xfrm>
          <a:custGeom>
            <a:pathLst>
              <a:path w="668" h="30">
                <a:moveTo>
                  <a:pt x="0" y="0"/>
                </a:moveTo>
                <a:lnTo>
                  <a:pt x="668" y="0"/>
                </a:lnTo>
                <a:lnTo>
                  <a:pt x="668" y="1"/>
                </a:lnTo>
                <a:lnTo>
                  <a:pt x="0" y="1"/>
                </a:lnTo>
                <a:close/>
              </a:path>
            </a:pathLst>
          </a:custGeom>
          <a:solidFill>
            <a:srgbClr val="10202E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81050" y="5972175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7C93A3"/>
                </a:solidFill>
                <a:latin typeface="Source Han Sans SC"/>
                <a:ea typeface="Source Han Sans SC"/>
              </a:rPr>
              <a:t>所以系统必须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504950" y="5934075"/>
            <a:ext cx="550545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 b="1">
                <a:solidFill>
                  <a:srgbClr val="10202E"/>
                </a:solidFill>
                <a:latin typeface="Source Han Sans SC"/>
                <a:ea typeface="Source Han Sans SC"/>
              </a:rPr>
              <a:t>状态与时长可视，并沉淀为可查记录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505700" y="1581150"/>
            <a:ext cx="4076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 spc="120">
                <a:solidFill>
                  <a:srgbClr val="7C93A3"/>
                </a:solidFill>
                <a:latin typeface="Source Han Sans SC"/>
                <a:ea typeface="Source Han Sans SC"/>
              </a:rPr>
              <a:t>本次目标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505700" y="1800225"/>
            <a:ext cx="4076700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10202E"/>
                </a:solidFill>
                <a:latin typeface="Source Han Sans SC"/>
                <a:ea typeface="Source Han Sans SC"/>
              </a:rPr>
              <a:t>把「确认条件</a:t>
            </a:r>
            <a:r>
              <a:rPr lang="en-US" sz="1088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88">
                <a:solidFill>
                  <a:srgbClr val="10202E"/>
                </a:solidFill>
                <a:latin typeface="Source Han Sans SC"/>
                <a:ea typeface="Source Han Sans SC"/>
              </a:rPr>
              <a:t>解析简历</a:t>
            </a:r>
            <a:r>
              <a:rPr lang="en-US" sz="1088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88">
                <a:solidFill>
                  <a:srgbClr val="10202E"/>
                </a:solidFill>
                <a:latin typeface="Source Han Sans SC"/>
                <a:ea typeface="Source Han Sans SC"/>
              </a:rPr>
              <a:t>人工核对</a:t>
            </a:r>
            <a:r>
              <a:rPr lang="en-US" sz="1088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88">
                <a:solidFill>
                  <a:srgbClr val="10202E"/>
                </a:solidFill>
                <a:latin typeface="Source Han Sans SC"/>
                <a:ea typeface="Source Han Sans SC"/>
              </a:rPr>
              <a:t>人工推荐</a:t>
            </a:r>
            <a:r>
              <a:rPr lang="en-US" sz="1088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88">
                <a:solidFill>
                  <a:srgbClr val="10202E"/>
                </a:solidFill>
                <a:latin typeface="Source Han Sans SC"/>
                <a:ea typeface="Source Han Sans SC"/>
              </a:rPr>
              <a:t>部门反馈</a:t>
            </a:r>
            <a:r>
              <a:rPr lang="en-US" sz="1088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88">
                <a:solidFill>
                  <a:srgbClr val="10202E"/>
                </a:solidFill>
                <a:latin typeface="Source Han Sans SC"/>
                <a:ea typeface="Source Han Sans SC"/>
              </a:rPr>
              <a:t>结果回录」这条全链路，</a:t>
            </a:r>
            <a:r>
              <a:rPr lang="en-US" sz="1088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88">
                <a:solidFill>
                  <a:srgbClr val="10202E"/>
                </a:solidFill>
                <a:latin typeface="Source Han Sans SC"/>
                <a:ea typeface="Source Han Sans SC"/>
              </a:rPr>
              <a:t>从口头流程固化成可开发、可验收、可追溯的系统流程。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505700" y="2771775"/>
            <a:ext cx="4076700" cy="9525"/>
          </a:xfrm>
          <a:prstGeom prst="rect">
            <a:avLst/>
          </a:prstGeom>
          <a:solidFill>
            <a:srgbClr val="10202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534275" y="2895600"/>
            <a:ext cx="4076700" cy="1276350"/>
          </a:xfrm>
          <a:prstGeom prst="rect">
            <a:avLst/>
          </a:prstGeom>
          <a:solidFill>
            <a:srgbClr val="C85A32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7505700" y="2895600"/>
            <a:ext cx="4105275" cy="1276350"/>
          </a:xfrm>
          <a:custGeom>
            <a:pathLst>
              <a:path w="431" h="134">
                <a:moveTo>
                  <a:pt x="0" y="0"/>
                </a:moveTo>
                <a:lnTo>
                  <a:pt x="3" y="0"/>
                </a:lnTo>
                <a:lnTo>
                  <a:pt x="3" y="134"/>
                </a:lnTo>
                <a:lnTo>
                  <a:pt x="0" y="134"/>
                </a:lnTo>
                <a:close/>
              </a:path>
            </a:pathLst>
          </a:cu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677150" y="3009900"/>
            <a:ext cx="3762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 spc="120">
                <a:solidFill>
                  <a:srgbClr val="C85A32"/>
                </a:solidFill>
                <a:latin typeface="Source Han Sans SC"/>
                <a:ea typeface="Source Han Sans SC"/>
              </a:rPr>
              <a:t>客户划定的红线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677150" y="3209925"/>
            <a:ext cx="1524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85A32"/>
                </a:solidFill>
                <a:latin typeface="Inter"/>
                <a:ea typeface="Inter"/>
              </a:rPr>
              <a:t>1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829550" y="3209925"/>
            <a:ext cx="33909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AI </a:t>
            </a:r>
            <a:r>
              <a:rPr lang="zh-CN" sz="1013">
                <a:solidFill>
                  <a:srgbClr val="10202E"/>
                </a:solidFill>
                <a:latin typeface="Source Han Sans SC"/>
                <a:ea typeface="Source Han Sans SC"/>
              </a:rPr>
              <a:t>只辅助初筛，绝不自动淘汰候选人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677150" y="3514725"/>
            <a:ext cx="1524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85A32"/>
                </a:solidFill>
                <a:latin typeface="Inter"/>
                <a:ea typeface="Inter"/>
              </a:rPr>
              <a:t>2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829550" y="3514725"/>
            <a:ext cx="33909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10202E"/>
                </a:solidFill>
                <a:latin typeface="Source Han Sans SC"/>
                <a:ea typeface="Source Han Sans SC"/>
              </a:rPr>
              <a:t>不代替招聘专员提交推荐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677150" y="3819525"/>
            <a:ext cx="152400" cy="238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85A32"/>
                </a:solidFill>
                <a:latin typeface="Inter"/>
                <a:ea typeface="Inter"/>
              </a:rPr>
              <a:t>3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829550" y="3819525"/>
            <a:ext cx="339090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10202E"/>
                </a:solidFill>
                <a:latin typeface="Source Han Sans SC"/>
                <a:ea typeface="Source Han Sans SC"/>
              </a:rPr>
              <a:t>专员不能跨岗位查看候选人材料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09600" y="6305550"/>
            <a:ext cx="10972800" cy="9525"/>
          </a:xfrm>
          <a:prstGeom prst="rect">
            <a:avLst/>
          </a:prstGeom>
          <a:solidFill>
            <a:srgbClr val="10202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9600" y="6438900"/>
            <a:ext cx="57150" cy="57150"/>
          </a:xfrm>
          <a:prstGeom prst="rect">
            <a:avLst/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52475" y="6391275"/>
            <a:ext cx="92011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依据｜问题与红线原文引自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proposal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「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>Why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」段（客户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PRD V1.0 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与评审会议记录）；配置读数取自平台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config 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表：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auto_eliminate_enabled 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为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locked / false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，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score_threshold_enabled 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为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false / pending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11163300" y="639127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7C93A3"/>
                </a:solidFill>
                <a:latin typeface="Inter"/>
                <a:ea typeface="Inter"/>
              </a:rPr>
              <a:t>02 / 05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8F4"/>
          </a:solidFill>
          <a:ln/>
        </p:spPr>
        <p:txBody>
          <a:bodyPr/>
          <a:p>
            <a:pPr/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962025"/>
            <a:ext cx="38100" cy="285750"/>
          </a:xfrm>
          <a:prstGeom prst="rect">
            <a:avLst/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81050" y="228600"/>
            <a:ext cx="102870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en-US" sz="2550" b="1" spc="-22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AI </a:t>
            </a:r>
            <a:r>
              <a:rPr lang="zh-CN" sz="2550" b="1" spc="-22">
                <a:solidFill>
                  <a:srgbClr val="10202E"/>
                </a:solidFill>
                <a:latin typeface="Source Han Sans SC"/>
                <a:ea typeface="Source Han Sans SC"/>
              </a:rPr>
              <a:t>只出证据，决定权留在人手上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81050" y="1295400"/>
            <a:ext cx="102870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7C93A3"/>
                </a:solidFill>
                <a:latin typeface="Source Han Sans SC"/>
                <a:ea typeface="Source Han Sans SC"/>
              </a:rPr>
              <a:t>所以方案的重点不是模型多强，而是把「必须由人点的那几下」固化成系统里绕不过去的出口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1638300"/>
            <a:ext cx="3486150" cy="4352925"/>
          </a:xfrm>
          <a:prstGeom prst="rect">
            <a:avLst/>
          </a:prstGeom>
          <a:solidFill>
            <a:srgbClr val="10202E"/>
          </a:solidFill>
          <a:ln/>
        </p:spPr>
        <p:txBody>
          <a:bodyPr/>
          <a:p>
            <a:pPr/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3028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 spc="120">
                <a:solidFill>
                  <a:srgbClr val="E88A63"/>
                </a:solidFill>
                <a:latin typeface="Source Han Sans SC"/>
                <a:ea typeface="Source Han Sans SC"/>
              </a:rPr>
              <a:t>设计支点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838200" y="2114550"/>
            <a:ext cx="3028950" cy="628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FBF8F4"/>
                </a:solidFill>
                <a:latin typeface="Source Han Sans SC"/>
                <a:ea typeface="Source Han Sans SC"/>
              </a:rPr>
              <a:t>全链路</a:t>
            </a:r>
            <a:r>
              <a:rPr lang="en-US" sz="1275" b="1">
                <a:solidFill>
                  <a:srgbClr val="FBF8F4"/>
                </a:solidFill>
                <a:latin typeface="Source Han Sans SC"/>
                <a:ea typeface="Source Han Sans SC"/>
              </a:rPr>
              <a:t xml:space="preserve"> 7 </a:t>
            </a:r>
            <a:r>
              <a:rPr lang="zh-CN" sz="1275" b="1">
                <a:solidFill>
                  <a:srgbClr val="FBF8F4"/>
                </a:solidFill>
                <a:latin typeface="Source Han Sans SC"/>
                <a:ea typeface="Source Han Sans SC"/>
              </a:rPr>
              <a:t>个环节，</a:t>
            </a:r>
            <a:endParaRPr/>
          </a:p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FBF8F4"/>
                </a:solidFill>
                <a:latin typeface="Source Han Sans SC"/>
                <a:ea typeface="Source Han Sans SC"/>
              </a:rPr>
              <a:t>机器只在「读」和「算」上出现。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838200" y="2895600"/>
            <a:ext cx="3028950" cy="9525"/>
          </a:xfrm>
          <a:prstGeom prst="rect">
            <a:avLst/>
          </a:prstGeom>
          <a:solidFill>
            <a:srgbClr val="FBF8F4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38200" y="3038475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F8F4"/>
                </a:solidFill>
                <a:latin typeface="Source Han Sans SC"/>
                <a:ea typeface="Source Han Sans SC"/>
              </a:rPr>
              <a:t>证据优先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38200" y="3228975"/>
            <a:ext cx="30289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>没有原文出处的判定不进结论，只进「待核实」。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38200" y="3581400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F8F4"/>
                </a:solidFill>
                <a:latin typeface="Source Han Sans SC"/>
                <a:ea typeface="Source Han Sans SC"/>
              </a:rPr>
              <a:t>人工出口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38200" y="3771900"/>
            <a:ext cx="30289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38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AI </a:t>
            </a:r>
            <a:r>
              <a:rPr lang="zh-CN" sz="938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>可以起草、可以建议，但不持有任何对外动作的提交权。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38200" y="4343400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BF8F4"/>
                </a:solidFill>
                <a:latin typeface="Source Han Sans SC"/>
                <a:ea typeface="Source Han Sans SC"/>
              </a:rPr>
              <a:t>双维权限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4533900"/>
            <a:ext cx="30289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>能力点（角色矩阵）×</a:t>
            </a:r>
            <a:r>
              <a:rPr lang="en-US" sz="938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38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>数据范围（岗位归属</a:t>
            </a:r>
            <a:r>
              <a:rPr lang="en-US" sz="938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>部门）双重校验。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38200" y="5629275"/>
            <a:ext cx="66675" cy="66675"/>
          </a:xfrm>
          <a:prstGeom prst="rect">
            <a:avLst/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81075" y="5562600"/>
            <a:ext cx="27813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FBF8F4">
                    <a:alpha val="60000"/>
                  </a:srgbClr>
                </a:solidFill>
                <a:latin typeface="Source Han Sans SC"/>
                <a:ea typeface="Source Han Sans SC"/>
              </a:rPr>
              <a:t>橙点三处为红线要求必须由人完成的动作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6086475"/>
            <a:ext cx="10972800" cy="9525"/>
          </a:xfrm>
          <a:prstGeom prst="rect">
            <a:avLst/>
          </a:prstGeom>
          <a:solidFill>
            <a:srgbClr val="10202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09600" y="6229350"/>
            <a:ext cx="57150" cy="57150"/>
          </a:xfrm>
          <a:prstGeom prst="rect">
            <a:avLst/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52475" y="6181725"/>
            <a:ext cx="92011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依据｜「证据优先」由解析输出的逐项原文定位与「信息不足」标记保证（该路径暂无独立用例，已在真实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PDF 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简历上实测）；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「人工出口」由推荐接口强制校验理由与差距（用例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16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）；「双维权限」由跨岗位、跨部门隔离用例验证（用例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6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、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>7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163300" y="61817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7C93A3"/>
                </a:solidFill>
                <a:latin typeface="Inter"/>
                <a:ea typeface="Inter"/>
              </a:rPr>
              <a:t>03 / 05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695825" y="1638300"/>
            <a:ext cx="8572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63" b="1">
                <a:solidFill>
                  <a:srgbClr val="10202E"/>
                </a:solidFill>
                <a:latin typeface="Source Han Sans SC"/>
                <a:ea typeface="Source Han Sans SC"/>
              </a:rPr>
              <a:t>需求发布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553075" y="1638300"/>
            <a:ext cx="5772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>条件与权重确认成版本；判定规则可以留空，边界靠追问补齐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695825" y="2324100"/>
            <a:ext cx="8572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63" b="1">
                <a:solidFill>
                  <a:srgbClr val="10202E"/>
                </a:solidFill>
                <a:latin typeface="Source Han Sans SC"/>
                <a:ea typeface="Source Han Sans SC"/>
              </a:rPr>
              <a:t>简历解析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5553075" y="2324100"/>
            <a:ext cx="5772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>按已确认条件逐项比对，输出</a:t>
            </a:r>
            <a:r>
              <a:rPr lang="en-US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0-100 </a:t>
            </a:r>
            <a:r>
              <a:rPr lang="zh-CN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>分与</a:t>
            </a:r>
            <a:r>
              <a:rPr lang="en-US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A/B/C </a:t>
            </a:r>
            <a:r>
              <a:rPr lang="zh-CN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>等级，每条判定必须带原文位置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695825" y="3000375"/>
            <a:ext cx="8572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63" b="1">
                <a:solidFill>
                  <a:srgbClr val="10202E"/>
                </a:solidFill>
                <a:latin typeface="Source Han Sans SC"/>
                <a:ea typeface="Source Han Sans SC"/>
              </a:rPr>
              <a:t>人工核对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553075" y="3000375"/>
            <a:ext cx="5772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>取不到证据就标「信息不足」，不判「不具备」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695825" y="3686175"/>
            <a:ext cx="8572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63" b="1">
                <a:solidFill>
                  <a:srgbClr val="10202E"/>
                </a:solidFill>
                <a:latin typeface="Source Han Sans SC"/>
                <a:ea typeface="Source Han Sans SC"/>
              </a:rPr>
              <a:t>人工推荐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553075" y="3686175"/>
            <a:ext cx="5772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>草稿可由</a:t>
            </a:r>
            <a:r>
              <a:rPr lang="en-US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AI </a:t>
            </a:r>
            <a:r>
              <a:rPr lang="zh-CN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>起草，提交必须由专员点，且要写理由与差距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695825" y="4371975"/>
            <a:ext cx="8572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63" b="1">
                <a:solidFill>
                  <a:srgbClr val="10202E"/>
                </a:solidFill>
                <a:latin typeface="Source Han Sans SC"/>
                <a:ea typeface="Source Han Sans SC"/>
              </a:rPr>
              <a:t>部门反馈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553075" y="4371975"/>
            <a:ext cx="5772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>同意面试</a:t>
            </a:r>
            <a:r>
              <a:rPr lang="en-US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>拒绝（必填原因）</a:t>
            </a:r>
            <a:r>
              <a:rPr lang="en-US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/ </a:t>
            </a:r>
            <a:r>
              <a:rPr lang="zh-CN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>需要补充，反馈直达推荐人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695825" y="5048250"/>
            <a:ext cx="8572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63" b="1">
                <a:solidFill>
                  <a:srgbClr val="10202E"/>
                </a:solidFill>
                <a:latin typeface="Source Han Sans SC"/>
                <a:ea typeface="Source Han Sans SC"/>
              </a:rPr>
              <a:t>录用决定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5553075" y="5048250"/>
            <a:ext cx="5772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>由该岗位面试官或部门经理定；录用即登记入职日期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695825" y="5734050"/>
            <a:ext cx="8572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63" b="1">
                <a:solidFill>
                  <a:srgbClr val="10202E"/>
                </a:solidFill>
                <a:latin typeface="Source Han Sans SC"/>
                <a:ea typeface="Source Han Sans SC"/>
              </a:rPr>
              <a:t>结果回评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553075" y="5734050"/>
            <a:ext cx="57721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</a:rPr>
              <a:t>入职满观察期回评实际表现，反馈重新校准筛选标准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4429125" y="1752600"/>
            <a:ext cx="9525" cy="4038600"/>
          </a:xfrm>
          <a:prstGeom prst="rect">
            <a:avLst/>
          </a:prstGeom>
          <a:solidFill>
            <a:srgbClr val="10202E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4305300" y="1638300"/>
            <a:ext cx="257175" cy="257175"/>
          </a:xfrm>
          <a:prstGeom prst="roundRect">
            <a:avLst>
              <a:gd name="adj" fmla="val 51852"/>
            </a:avLst>
          </a:prstGeom>
          <a:solidFill>
            <a:srgbClr val="FFFFFF"/>
          </a:solidFill>
          <a:ln w="12700">
            <a:solidFill>
              <a:srgbClr val="10202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381500" y="1704975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7C93A3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4305300" y="2324100"/>
            <a:ext cx="257175" cy="257175"/>
          </a:xfrm>
          <a:prstGeom prst="roundRect">
            <a:avLst>
              <a:gd name="adj" fmla="val 51852"/>
            </a:avLst>
          </a:prstGeom>
          <a:solidFill>
            <a:srgbClr val="FFFFFF"/>
          </a:solidFill>
          <a:ln w="12700">
            <a:solidFill>
              <a:srgbClr val="10202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381500" y="2390775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7C93A3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4305300" y="3000375"/>
            <a:ext cx="257175" cy="257175"/>
          </a:xfrm>
          <a:prstGeom prst="roundRect">
            <a:avLst>
              <a:gd name="adj" fmla="val 51852"/>
            </a:avLst>
          </a:prstGeom>
          <a:solidFill>
            <a:srgbClr val="FFFFFF"/>
          </a:solidFill>
          <a:ln w="12700">
            <a:solidFill>
              <a:srgbClr val="10202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381500" y="3067050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7C93A3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4305300" y="3686175"/>
            <a:ext cx="257175" cy="257175"/>
          </a:xfrm>
          <a:prstGeom prst="roundRect">
            <a:avLst>
              <a:gd name="adj" fmla="val 51852"/>
            </a:avLst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381500" y="3752850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4305300" y="4371975"/>
            <a:ext cx="257175" cy="257175"/>
          </a:xfrm>
          <a:prstGeom prst="roundRect">
            <a:avLst>
              <a:gd name="adj" fmla="val 51852"/>
            </a:avLst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381500" y="4438650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Inter"/>
                <a:ea typeface="Inter"/>
              </a:rPr>
              <a:t>05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4305300" y="5048250"/>
            <a:ext cx="257175" cy="257175"/>
          </a:xfrm>
          <a:prstGeom prst="roundRect">
            <a:avLst>
              <a:gd name="adj" fmla="val 51852"/>
            </a:avLst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4381500" y="5114925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Inter"/>
                <a:ea typeface="Inter"/>
              </a:rPr>
              <a:t>06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4305300" y="5734050"/>
            <a:ext cx="257175" cy="257175"/>
          </a:xfrm>
          <a:prstGeom prst="roundRect">
            <a:avLst>
              <a:gd name="adj" fmla="val 51852"/>
            </a:avLst>
          </a:prstGeom>
          <a:solidFill>
            <a:srgbClr val="FFFFFF"/>
          </a:solidFill>
          <a:ln w="12700">
            <a:solidFill>
              <a:srgbClr val="10202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381500" y="5800725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7C93A3"/>
                </a:solidFill>
                <a:latin typeface="Inter"/>
                <a:ea typeface="Inter"/>
              </a:rPr>
              <a:t>07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8F4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962025"/>
            <a:ext cx="38100" cy="285750"/>
          </a:xfrm>
          <a:prstGeom prst="rect">
            <a:avLst/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1050" y="228600"/>
            <a:ext cx="102870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0000"/>
              </a:lnSpc>
            </a:pPr>
            <a:r>
              <a:rPr lang="zh-CN" sz="2550" b="1" spc="-22">
                <a:solidFill>
                  <a:srgbClr val="10202E"/>
                </a:solidFill>
                <a:latin typeface="Source Han Sans SC"/>
                <a:ea typeface="Source Han Sans SC"/>
              </a:rPr>
              <a:t>六项改造已上线，闭环能一路走到底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81050" y="1295400"/>
            <a:ext cx="102870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7C93A3"/>
                </a:solidFill>
                <a:latin typeface="Source Han Sans SC"/>
                <a:ea typeface="Source Han Sans SC"/>
              </a:rPr>
              <a:t>下面四行是这次交付的实际状态，每行右侧写明依据出处——可以逐条核对，不必采信结论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3067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 spc="120">
                <a:solidFill>
                  <a:srgbClr val="7C93A3"/>
                </a:solidFill>
                <a:latin typeface="Source Han Sans SC"/>
                <a:ea typeface="Source Han Sans SC"/>
              </a:rPr>
              <a:t>自动化用例通过数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1847850"/>
            <a:ext cx="96202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225">
                <a:solidFill>
                  <a:srgbClr val="C85A32"/>
                </a:solidFill>
                <a:latin typeface="Inter"/>
                <a:ea typeface="Inter"/>
              </a:rPr>
              <a:t>26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590675" y="2438400"/>
            <a:ext cx="5334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C85A32">
                    <a:alpha val="55000"/>
                  </a:srgbClr>
                </a:solidFill>
                <a:latin typeface="Inter"/>
                <a:ea typeface="Inter"/>
              </a:rPr>
              <a:t>/26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09600" y="3048000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10202E"/>
                </a:solidFill>
                <a:latin typeface="Source Han Sans SC"/>
                <a:ea typeface="Source Han Sans SC"/>
              </a:rPr>
              <a:t>失败</a:t>
            </a:r>
            <a:r>
              <a:rPr lang="en-US" sz="1125" b="1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 0 · </a:t>
            </a:r>
            <a:r>
              <a:rPr lang="zh-CN" sz="1125" b="1">
                <a:solidFill>
                  <a:srgbClr val="10202E"/>
                </a:solidFill>
                <a:latin typeface="Source Han Sans SC"/>
                <a:ea typeface="Source Han Sans SC"/>
              </a:rPr>
              <a:t>跳过</a:t>
            </a:r>
            <a:r>
              <a:rPr lang="en-US" sz="1125" b="1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 0 · </a:t>
            </a:r>
            <a:r>
              <a:rPr lang="zh-CN" sz="1125" b="1">
                <a:solidFill>
                  <a:srgbClr val="10202E"/>
                </a:solidFill>
                <a:latin typeface="Source Han Sans SC"/>
                <a:ea typeface="Source Han Sans SC"/>
              </a:rPr>
              <a:t>取消</a:t>
            </a:r>
            <a:r>
              <a:rPr lang="en-US" sz="1125" b="1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 0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3381375"/>
            <a:ext cx="30670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覆盖账号状态、岗位隔离、跨部门隔离、低分不淘汰、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自动淘汰锁定、追问权限、录用决定权限与审计留痕。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3990975"/>
            <a:ext cx="3067050" cy="9525"/>
          </a:xfrm>
          <a:prstGeom prst="rect">
            <a:avLst/>
          </a:prstGeom>
          <a:solidFill>
            <a:srgbClr val="10202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38175" y="4114800"/>
            <a:ext cx="3067050" cy="1304925"/>
          </a:xfrm>
          <a:prstGeom prst="rect">
            <a:avLst/>
          </a:prstGeom>
          <a:solidFill>
            <a:srgbClr val="C85A32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09600" y="4114800"/>
            <a:ext cx="3095625" cy="1304925"/>
          </a:xfrm>
          <a:custGeom>
            <a:pathLst>
              <a:path w="325" h="137">
                <a:moveTo>
                  <a:pt x="0" y="0"/>
                </a:moveTo>
                <a:lnTo>
                  <a:pt x="3" y="0"/>
                </a:lnTo>
                <a:lnTo>
                  <a:pt x="3" y="137"/>
                </a:lnTo>
                <a:lnTo>
                  <a:pt x="0" y="137"/>
                </a:lnTo>
                <a:close/>
              </a:path>
            </a:pathLst>
          </a:cu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62000" y="4219575"/>
            <a:ext cx="2790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 spc="90">
                <a:solidFill>
                  <a:srgbClr val="C85A32"/>
                </a:solidFill>
                <a:latin typeface="Source Han Sans SC"/>
                <a:ea typeface="Source Han Sans SC"/>
              </a:rPr>
              <a:t>本轮修掉的两处缺陷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62000" y="4400550"/>
            <a:ext cx="2790825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>
                <a:solidFill>
                  <a:srgbClr val="10202E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① </a:t>
            </a:r>
            <a:r>
              <a:rPr lang="zh-CN" sz="938">
                <a:solidFill>
                  <a:srgbClr val="10202E">
                    <a:alpha val="76000"/>
                  </a:srgbClr>
                </a:solidFill>
                <a:latin typeface="Source Han Sans SC"/>
                <a:ea typeface="Source Han Sans SC"/>
              </a:rPr>
              <a:t>部门反馈三个按钮点了无反应（前端方法未导出，静默失败）</a:t>
            </a:r>
            <a:endParaRPr/>
          </a:p>
          <a:p>
            <a:pPr>
              <a:lnSpc>
                <a:spcPct val="160000"/>
              </a:lnSpc>
            </a:pPr>
            <a:r>
              <a:rPr lang="en-US" sz="938">
                <a:solidFill>
                  <a:srgbClr val="10202E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② </a:t>
            </a:r>
            <a:r>
              <a:rPr lang="zh-CN" sz="938">
                <a:solidFill>
                  <a:srgbClr val="10202E">
                    <a:alpha val="76000"/>
                  </a:srgbClr>
                </a:solidFill>
                <a:latin typeface="Source Han Sans SC"/>
                <a:ea typeface="Source Han Sans SC"/>
              </a:rPr>
              <a:t>岗位为空时「发布岗位需求」入口不渲染，无法发起招聘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9600" y="5772150"/>
            <a:ext cx="30670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7C93A3"/>
                </a:solidFill>
                <a:latin typeface="Source Han Sans SC"/>
                <a:ea typeface="Source Han Sans SC"/>
              </a:rPr>
              <a:t>两处均已补入回归用例，防止再次退化。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3924300" y="1657350"/>
            <a:ext cx="7658100" cy="952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0202E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4095750" y="1781175"/>
            <a:ext cx="447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113">
                <a:solidFill>
                  <a:srgbClr val="C85A32"/>
                </a:solidFill>
                <a:latin typeface="Source Han Sans SC"/>
                <a:ea typeface="Source Han Sans SC"/>
              </a:rPr>
              <a:t>上线状态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095750" y="1962150"/>
            <a:ext cx="4476750" cy="2762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38" b="1">
                <a:solidFill>
                  <a:srgbClr val="10202E"/>
                </a:solidFill>
                <a:latin typeface="Source Han Sans SC"/>
                <a:ea typeface="Source Han Sans SC"/>
              </a:rPr>
              <a:t>已部署在腾讯云服务器，公网可直接访问与登录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8696325" y="1781175"/>
            <a:ext cx="9525" cy="704850"/>
          </a:xfrm>
          <a:prstGeom prst="rect">
            <a:avLst/>
          </a:prstGeom>
          <a:solidFill>
            <a:srgbClr val="10202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858250" y="1952625"/>
            <a:ext cx="2552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105">
                <a:solidFill>
                  <a:srgbClr val="7C93A3"/>
                </a:solidFill>
                <a:latin typeface="Source Han Sans SC"/>
                <a:ea typeface="Source Han Sans SC"/>
              </a:rPr>
              <a:t>依据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858250" y="2105025"/>
            <a:ext cx="255270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公网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/health 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返回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200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，响应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99ms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；首页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81ms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3924300" y="2705100"/>
            <a:ext cx="7658100" cy="952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10202E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095750" y="2828925"/>
            <a:ext cx="447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113">
                <a:solidFill>
                  <a:srgbClr val="C85A32"/>
                </a:solidFill>
                <a:latin typeface="Source Han Sans SC"/>
                <a:ea typeface="Source Han Sans SC"/>
              </a:rPr>
              <a:t>合规覆盖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095750" y="3009900"/>
            <a:ext cx="4476750" cy="2762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38" b="1">
                <a:solidFill>
                  <a:srgbClr val="10202E"/>
                </a:solidFill>
                <a:latin typeface="Source Han Sans SC"/>
                <a:ea typeface="Source Han Sans SC"/>
              </a:rPr>
              <a:t>红线与权限用例全部通过，无失败、无跳过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8696325" y="2828925"/>
            <a:ext cx="9525" cy="704850"/>
          </a:xfrm>
          <a:prstGeom prst="rect">
            <a:avLst/>
          </a:prstGeom>
          <a:solidFill>
            <a:srgbClr val="10202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858250" y="3000375"/>
            <a:ext cx="2552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105">
                <a:solidFill>
                  <a:srgbClr val="7C93A3"/>
                </a:solidFill>
                <a:latin typeface="Source Han Sans SC"/>
                <a:ea typeface="Source Han Sans SC"/>
              </a:rPr>
              <a:t>依据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858250" y="3152775"/>
            <a:ext cx="255270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自动化用例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26/26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，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fail 0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，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cancelled 0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3924300" y="3752850"/>
            <a:ext cx="7658100" cy="106680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10202E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095750" y="3876675"/>
            <a:ext cx="447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113">
                <a:solidFill>
                  <a:srgbClr val="C85A32"/>
                </a:solidFill>
                <a:latin typeface="Source Han Sans SC"/>
                <a:ea typeface="Source Han Sans SC"/>
              </a:rPr>
              <a:t>数据流转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095750" y="4057650"/>
            <a:ext cx="4476750" cy="2762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38" b="1">
                <a:solidFill>
                  <a:srgbClr val="10202E"/>
                </a:solidFill>
                <a:latin typeface="Source Han Sans SC"/>
                <a:ea typeface="Source Han Sans SC"/>
              </a:rPr>
              <a:t>从发布岗位到用人结果回评，全链路真实跑通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8696325" y="3876675"/>
            <a:ext cx="9525" cy="819150"/>
          </a:xfrm>
          <a:prstGeom prst="rect">
            <a:avLst/>
          </a:prstGeom>
          <a:solidFill>
            <a:srgbClr val="10202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858250" y="4000500"/>
            <a:ext cx="2552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105">
                <a:solidFill>
                  <a:srgbClr val="7C93A3"/>
                </a:solidFill>
                <a:latin typeface="Source Han Sans SC"/>
                <a:ea typeface="Source Han Sans SC"/>
              </a:rPr>
              <a:t>依据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858250" y="4152900"/>
            <a:ext cx="25527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演示库：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2 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岗位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/ 21 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份简历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/ 6 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条推荐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/ 2 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条入职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/ 2 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条回评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3924300" y="4914900"/>
            <a:ext cx="7658100" cy="1076325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10202E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095750" y="5038725"/>
            <a:ext cx="447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113">
                <a:solidFill>
                  <a:srgbClr val="C85A32"/>
                </a:solidFill>
                <a:latin typeface="Source Han Sans SC"/>
                <a:ea typeface="Source Han Sans SC"/>
              </a:rPr>
              <a:t>本轮改造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095750" y="5219700"/>
            <a:ext cx="4476750" cy="2762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38" b="1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6 </a:t>
            </a:r>
            <a:r>
              <a:rPr lang="zh-CN" sz="1238" b="1">
                <a:solidFill>
                  <a:srgbClr val="10202E"/>
                </a:solidFill>
                <a:latin typeface="Source Han Sans SC"/>
                <a:ea typeface="Source Han Sans SC"/>
              </a:rPr>
              <a:t>项功能改造与</a:t>
            </a:r>
            <a:r>
              <a:rPr lang="en-US" sz="1238" b="1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 2 </a:t>
            </a:r>
            <a:r>
              <a:rPr lang="zh-CN" sz="1238" b="1">
                <a:solidFill>
                  <a:srgbClr val="10202E"/>
                </a:solidFill>
                <a:latin typeface="Source Han Sans SC"/>
                <a:ea typeface="Source Han Sans SC"/>
              </a:rPr>
              <a:t>处交互缺陷修复均已上线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8696325" y="5038725"/>
            <a:ext cx="9525" cy="828675"/>
          </a:xfrm>
          <a:prstGeom prst="rect">
            <a:avLst/>
          </a:prstGeom>
          <a:solidFill>
            <a:srgbClr val="10202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858250" y="5162550"/>
            <a:ext cx="2552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105">
                <a:solidFill>
                  <a:srgbClr val="7C93A3"/>
                </a:solidFill>
                <a:latin typeface="Source Han Sans SC"/>
                <a:ea typeface="Source Han Sans SC"/>
              </a:rPr>
              <a:t>依据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858250" y="5314950"/>
            <a:ext cx="25527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线上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app.js 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命中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DEMO_JOB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、</a:t>
            </a:r>
            <a:r>
              <a:rPr lang="en-US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hire-decision</a:t>
            </a: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、个人中心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09600" y="6086475"/>
            <a:ext cx="10972800" cy="9525"/>
          </a:xfrm>
          <a:prstGeom prst="rect">
            <a:avLst/>
          </a:prstGeom>
          <a:solidFill>
            <a:srgbClr val="10202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09600" y="6229350"/>
            <a:ext cx="57150" cy="57150"/>
          </a:xfrm>
          <a:prstGeom prst="rect">
            <a:avLst/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52475" y="6181725"/>
            <a:ext cx="92011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依据｜用例数与结果取自测试运行汇总行（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>tests 26 / pass 26 / fail 0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）；上线状态取自公网探测；</a:t>
            </a:r>
            <a:r>
              <a:rPr lang="en-US" sz="938">
                <a:solidFill>
                  <a:srgbClr val="7C93A3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38">
                <a:solidFill>
                  <a:srgbClr val="7C93A3"/>
                </a:solidFill>
                <a:latin typeface="Source Han Sans SC"/>
                <a:ea typeface="Source Han Sans SC"/>
              </a:rPr>
              <a:t>数据流转取自演示库四张表的实际计数；改造项取自线上前端文件内容比对。全部可复现，未使用任何估算口径。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163300" y="618172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7C93A3"/>
                </a:solidFill>
                <a:latin typeface="Inter"/>
                <a:ea typeface="Inter"/>
              </a:rPr>
              <a:t>04 / 05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BF8F4"/>
          </a:solidFill>
          <a:ln/>
        </p:spPr>
        <p:txBody>
          <a:bodyPr/>
          <a:p>
            <a:pPr/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09600" y="457200"/>
            <a:ext cx="38100" cy="285750"/>
          </a:xfrm>
          <a:prstGeom prst="rect">
            <a:avLst/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81050" y="228600"/>
            <a:ext cx="10287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 spc="-22">
                <a:solidFill>
                  <a:srgbClr val="10202E"/>
                </a:solidFill>
                <a:latin typeface="Source Han Sans SC"/>
                <a:ea typeface="Source Han Sans SC"/>
              </a:rPr>
              <a:t>技术上可试运行，但有</a:t>
            </a:r>
            <a:r>
              <a:rPr lang="en-US" sz="2550" b="1" spc="-22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 8 </a:t>
            </a:r>
            <a:r>
              <a:rPr lang="zh-CN" sz="2550" b="1" spc="-22">
                <a:solidFill>
                  <a:srgbClr val="10202E"/>
                </a:solidFill>
                <a:latin typeface="Source Han Sans SC"/>
                <a:ea typeface="Source Han Sans SC"/>
              </a:rPr>
              <a:t>项口径还空着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1152525"/>
            <a:ext cx="495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05">
                <a:solidFill>
                  <a:srgbClr val="C85A32"/>
                </a:solidFill>
                <a:latin typeface="Inter"/>
                <a:ea typeface="Inter"/>
              </a:rPr>
              <a:t>STEP 1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1104900" y="1209675"/>
            <a:ext cx="3009900" cy="9525"/>
          </a:xfrm>
          <a:prstGeom prst="rect">
            <a:avLst/>
          </a:prstGeom>
          <a:solidFill>
            <a:srgbClr val="10202E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3524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10202E"/>
                </a:solidFill>
                <a:latin typeface="Source Han Sans SC"/>
                <a:ea typeface="Source Han Sans SC"/>
              </a:rPr>
              <a:t>真数据试运行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1628775"/>
            <a:ext cx="35242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10202E">
                    <a:alpha val="68000"/>
                  </a:srgbClr>
                </a:solidFill>
                <a:latin typeface="Source Han Sans SC"/>
                <a:ea typeface="Source Han Sans SC"/>
              </a:rPr>
              <a:t>用一个真实在招岗位跑完</a:t>
            </a:r>
            <a:r>
              <a:rPr lang="en-US" sz="938">
                <a:solidFill>
                  <a:srgbClr val="10202E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7 </a:t>
            </a:r>
            <a:r>
              <a:rPr lang="zh-CN" sz="938">
                <a:solidFill>
                  <a:srgbClr val="10202E">
                    <a:alpha val="68000"/>
                  </a:srgbClr>
                </a:solidFill>
                <a:latin typeface="Source Han Sans SC"/>
                <a:ea typeface="Source Han Sans SC"/>
              </a:rPr>
              <a:t>个环节，重点观测部门反馈的响应时长与卡点位置。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324350" y="1152525"/>
            <a:ext cx="495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05">
                <a:solidFill>
                  <a:srgbClr val="C85A32"/>
                </a:solidFill>
                <a:latin typeface="Inter"/>
                <a:ea typeface="Inter"/>
              </a:rPr>
              <a:t>STEP 2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4819650" y="1209675"/>
            <a:ext cx="3009900" cy="9525"/>
          </a:xfrm>
          <a:prstGeom prst="rect">
            <a:avLst/>
          </a:prstGeom>
          <a:solidFill>
            <a:srgbClr val="10202E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324350" y="1343025"/>
            <a:ext cx="3524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10202E"/>
                </a:solidFill>
                <a:latin typeface="Source Han Sans SC"/>
                <a:ea typeface="Source Han Sans SC"/>
              </a:rPr>
              <a:t>口径确认后固化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324350" y="1628775"/>
            <a:ext cx="35242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10202E">
                    <a:alpha val="68000"/>
                  </a:srgbClr>
                </a:solidFill>
                <a:latin typeface="Source Han Sans SC"/>
                <a:ea typeface="Source Han Sans SC"/>
              </a:rPr>
              <a:t>把下表中已拍板的配置写入平台并标记为</a:t>
            </a:r>
            <a:r>
              <a:rPr lang="en-US" sz="938">
                <a:solidFill>
                  <a:srgbClr val="10202E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confirmed</a:t>
            </a:r>
            <a:r>
              <a:rPr lang="zh-CN" sz="938">
                <a:solidFill>
                  <a:srgbClr val="10202E">
                    <a:alpha val="68000"/>
                  </a:srgbClr>
                </a:solidFill>
                <a:latin typeface="Source Han Sans SC"/>
                <a:ea typeface="Source Han Sans SC"/>
              </a:rPr>
              <a:t>，从此不再是</a:t>
            </a:r>
            <a:r>
              <a:rPr lang="en-US" sz="938">
                <a:solidFill>
                  <a:srgbClr val="10202E">
                    <a:alpha val="68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938">
                <a:solidFill>
                  <a:srgbClr val="10202E">
                    <a:alpha val="68000"/>
                  </a:srgbClr>
                </a:solidFill>
                <a:latin typeface="Source Han Sans SC"/>
                <a:ea typeface="Source Han Sans SC"/>
              </a:rPr>
              <a:t>建议值</a:t>
            </a:r>
            <a:r>
              <a:rPr lang="en-US" sz="938">
                <a:solidFill>
                  <a:srgbClr val="10202E">
                    <a:alpha val="68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938">
                <a:solidFill>
                  <a:srgbClr val="10202E">
                    <a:alpha val="68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039100" y="1152525"/>
            <a:ext cx="495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 spc="105">
                <a:solidFill>
                  <a:srgbClr val="C85A32"/>
                </a:solidFill>
                <a:latin typeface="Inter"/>
                <a:ea typeface="Inter"/>
              </a:rPr>
              <a:t>STEP 3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8534400" y="1209675"/>
            <a:ext cx="3009900" cy="9525"/>
          </a:xfrm>
          <a:prstGeom prst="rect">
            <a:avLst/>
          </a:prstGeom>
          <a:solidFill>
            <a:srgbClr val="10202E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039100" y="1343025"/>
            <a:ext cx="352425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10202E"/>
                </a:solidFill>
                <a:latin typeface="Source Han Sans SC"/>
                <a:ea typeface="Source Han Sans SC"/>
              </a:rPr>
              <a:t>再扩到多部门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039100" y="1628775"/>
            <a:ext cx="35242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10202E">
                    <a:alpha val="68000"/>
                  </a:srgbClr>
                </a:solidFill>
                <a:latin typeface="Source Han Sans SC"/>
                <a:ea typeface="Source Han Sans SC"/>
              </a:rPr>
              <a:t>新增部门与账号，复用同一套能力点矩阵，验证跨部门隔离在真实组织下成立。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09600" y="2200275"/>
            <a:ext cx="10972800" cy="9525"/>
          </a:xfrm>
          <a:prstGeom prst="rect">
            <a:avLst/>
          </a:prstGeom>
          <a:solidFill>
            <a:srgbClr val="10202E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09600" y="2305050"/>
            <a:ext cx="2381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0202E"/>
                </a:solidFill>
                <a:latin typeface="Source Han Sans SC"/>
                <a:ea typeface="Source Han Sans SC"/>
              </a:rPr>
              <a:t>需要你拍板的事项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990850" y="2305050"/>
            <a:ext cx="8591550" cy="1905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63">
                <a:solidFill>
                  <a:srgbClr val="7C93A3"/>
                </a:solidFill>
                <a:latin typeface="Source Han Sans SC"/>
                <a:ea typeface="Source Han Sans SC"/>
              </a:rPr>
              <a:t>状态列均为「待确认」——在确认前，系统不会把这些值当成业务规则执行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09600" y="2571750"/>
            <a:ext cx="10972800" cy="257175"/>
          </a:xfrm>
          <a:prstGeom prst="rect">
            <a:avLst/>
          </a:prstGeom>
          <a:solidFill>
            <a:srgbClr val="10202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2638425"/>
            <a:ext cx="3009900" cy="123825"/>
          </a:xfrm>
          <a:prstGeom prst="rect"/>
        </p:spPr>
        <p:txBody>
          <a:bodyPr wrap="none" lIns="114300" tIns="0" rIns="0" bIns="0"/>
          <a:p>
            <a:pPr>
              <a:lnSpc>
                <a:spcPct val="100000"/>
              </a:lnSpc>
            </a:pPr>
            <a:r>
              <a:rPr lang="zh-CN" sz="788" b="1" spc="90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>事项</a:t>
            </a:r>
            <a:r>
              <a:rPr lang="en-US" sz="788" b="1" spc="90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788" b="1" spc="90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>配置键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619500" y="2638425"/>
            <a:ext cx="16764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90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>当前默认值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295900" y="2638425"/>
            <a:ext cx="1257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90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>状态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553200" y="2638425"/>
            <a:ext cx="5029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90">
                <a:solidFill>
                  <a:srgbClr val="FBF8F4">
                    <a:alpha val="72000"/>
                  </a:srgbClr>
                </a:solidFill>
                <a:latin typeface="Source Han Sans SC"/>
                <a:ea typeface="Source Han Sans SC"/>
              </a:rPr>
              <a:t>对试运行的影响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2828925"/>
            <a:ext cx="10972800" cy="485775"/>
          </a:xfrm>
          <a:prstGeom prst="rect">
            <a:avLst/>
          </a:prstGeom>
          <a:solidFill>
            <a:srgbClr val="C85A32">
              <a:alpha val="4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2828925"/>
            <a:ext cx="10972800" cy="495300"/>
          </a:xfrm>
          <a:custGeom>
            <a:pathLst>
              <a:path w="1152" h="52">
                <a:moveTo>
                  <a:pt x="0" y="51"/>
                </a:moveTo>
                <a:lnTo>
                  <a:pt x="1152" y="51"/>
                </a:lnTo>
                <a:lnTo>
                  <a:pt x="115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10202E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62000" y="2886075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13" b="1">
                <a:solidFill>
                  <a:srgbClr val="10202E"/>
                </a:solidFill>
                <a:latin typeface="Source Han Sans SC"/>
                <a:ea typeface="Source Han Sans SC"/>
              </a:rPr>
              <a:t>分数淘汰线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62000" y="3105150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13">
                <a:solidFill>
                  <a:srgbClr val="7C93A3"/>
                </a:solidFill>
                <a:latin typeface="Inter"/>
                <a:ea typeface="Inter"/>
              </a:rPr>
              <a:t>score_threshold_enabled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619500" y="299085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85A32"/>
                </a:solidFill>
                <a:latin typeface="Source Han Sans SC"/>
                <a:ea typeface="Source Han Sans SC"/>
              </a:rPr>
              <a:t>关闭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5295900" y="2924175"/>
            <a:ext cx="476250" cy="285750"/>
          </a:xfrm>
          <a:prstGeom prst="roundRect">
            <a:avLst>
              <a:gd name="adj" fmla="val 6667"/>
            </a:avLst>
          </a:prstGeom>
          <a:solidFill>
            <a:srgbClr val="10202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372100" y="2943225"/>
            <a:ext cx="323850" cy="247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88" b="1" spc="45">
                <a:solidFill>
                  <a:srgbClr val="7C93A3"/>
                </a:solidFill>
                <a:latin typeface="Source Han Sans SC"/>
                <a:ea typeface="Source Han Sans SC"/>
              </a:rPr>
              <a:t>待确认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553200" y="2962275"/>
            <a:ext cx="5029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决定能否按分数直接过滤简历；当前系统不提供该过滤接口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09600" y="3314700"/>
            <a:ext cx="10972800" cy="485775"/>
          </a:xfrm>
          <a:prstGeom prst="rect">
            <a:avLst/>
          </a:prstGeom>
          <a:solidFill>
            <a:srgbClr val="C85A32">
              <a:alpha val="4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3314700"/>
            <a:ext cx="10972800" cy="495300"/>
          </a:xfrm>
          <a:custGeom>
            <a:pathLst>
              <a:path w="1152" h="52">
                <a:moveTo>
                  <a:pt x="0" y="51"/>
                </a:moveTo>
                <a:lnTo>
                  <a:pt x="1152" y="51"/>
                </a:lnTo>
                <a:lnTo>
                  <a:pt x="115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10202E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62000" y="3371850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13" b="1">
                <a:solidFill>
                  <a:srgbClr val="10202E"/>
                </a:solidFill>
                <a:latin typeface="Source Han Sans SC"/>
                <a:ea typeface="Source Han Sans SC"/>
              </a:rPr>
              <a:t>部门反馈时效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62000" y="3590925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13">
                <a:solidFill>
                  <a:srgbClr val="7C93A3"/>
                </a:solidFill>
                <a:latin typeface="Inter"/>
                <a:ea typeface="Inter"/>
              </a:rPr>
              <a:t>feedback_sla_workdays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619500" y="347662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85A32"/>
                </a:solidFill>
                <a:latin typeface="Source Han Sans SC"/>
                <a:ea typeface="Source Han Sans SC"/>
              </a:rPr>
              <a:t xml:space="preserve">3 </a:t>
            </a:r>
            <a:r>
              <a:rPr lang="zh-CN" sz="975">
                <a:solidFill>
                  <a:srgbClr val="C85A32"/>
                </a:solidFill>
                <a:latin typeface="Source Han Sans SC"/>
                <a:ea typeface="Source Han Sans SC"/>
              </a:rPr>
              <a:t>个工作日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5295900" y="3409950"/>
            <a:ext cx="476250" cy="285750"/>
          </a:xfrm>
          <a:prstGeom prst="roundRect">
            <a:avLst>
              <a:gd name="adj" fmla="val 6667"/>
            </a:avLst>
          </a:prstGeom>
          <a:solidFill>
            <a:srgbClr val="10202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372100" y="3429000"/>
            <a:ext cx="323850" cy="247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88" b="1" spc="45">
                <a:solidFill>
                  <a:srgbClr val="7C93A3"/>
                </a:solidFill>
                <a:latin typeface="Source Han Sans SC"/>
                <a:ea typeface="Source Han Sans SC"/>
              </a:rPr>
              <a:t>待确认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553200" y="3448050"/>
            <a:ext cx="5029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决定「超时预警」从第几天开始算，直接影响试运行期催办节奏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3800475"/>
            <a:ext cx="10972800" cy="485775"/>
          </a:xfrm>
          <a:prstGeom prst="rect">
            <a:avLst/>
          </a:prstGeom>
          <a:solidFill>
            <a:srgbClr val="C85A32">
              <a:alpha val="4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09600" y="3800475"/>
            <a:ext cx="10972800" cy="495300"/>
          </a:xfrm>
          <a:custGeom>
            <a:pathLst>
              <a:path w="1152" h="52">
                <a:moveTo>
                  <a:pt x="0" y="51"/>
                </a:moveTo>
                <a:lnTo>
                  <a:pt x="1152" y="51"/>
                </a:lnTo>
                <a:lnTo>
                  <a:pt x="115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10202E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62000" y="3857625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13" b="1">
                <a:solidFill>
                  <a:srgbClr val="10202E"/>
                </a:solidFill>
                <a:latin typeface="Source Han Sans SC"/>
                <a:ea typeface="Source Han Sans SC"/>
              </a:rPr>
              <a:t>报表指标定义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62000" y="4076700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13">
                <a:solidFill>
                  <a:srgbClr val="7C93A3"/>
                </a:solidFill>
                <a:latin typeface="Inter"/>
                <a:ea typeface="Inter"/>
              </a:rPr>
              <a:t>metric_definitions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3619500" y="396240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85A32"/>
                </a:solidFill>
                <a:latin typeface="Source Han Sans SC"/>
                <a:ea typeface="Source Han Sans SC"/>
              </a:rPr>
              <a:t>未定义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5295900" y="3895725"/>
            <a:ext cx="476250" cy="285750"/>
          </a:xfrm>
          <a:prstGeom prst="roundRect">
            <a:avLst>
              <a:gd name="adj" fmla="val 6667"/>
            </a:avLst>
          </a:prstGeom>
          <a:solidFill>
            <a:srgbClr val="10202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5372100" y="3914775"/>
            <a:ext cx="323850" cy="247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88" b="1" spc="45">
                <a:solidFill>
                  <a:srgbClr val="7C93A3"/>
                </a:solidFill>
                <a:latin typeface="Source Han Sans SC"/>
                <a:ea typeface="Source Han Sans SC"/>
              </a:rPr>
              <a:t>待确认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553200" y="3933825"/>
            <a:ext cx="5029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未定义前，看板只展示参考口径，数据不能横向比较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09600" y="4286250"/>
            <a:ext cx="109728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09600" y="4286250"/>
            <a:ext cx="10972800" cy="495300"/>
          </a:xfrm>
          <a:custGeom>
            <a:pathLst>
              <a:path w="1152" h="52">
                <a:moveTo>
                  <a:pt x="0" y="51"/>
                </a:moveTo>
                <a:lnTo>
                  <a:pt x="1152" y="51"/>
                </a:lnTo>
                <a:lnTo>
                  <a:pt x="115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10202E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62000" y="4343400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13" b="1">
                <a:solidFill>
                  <a:srgbClr val="10202E"/>
                </a:solidFill>
                <a:latin typeface="Source Han Sans SC"/>
                <a:ea typeface="Source Han Sans SC"/>
              </a:rPr>
              <a:t>用人结果观察期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62000" y="4562475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13">
                <a:solidFill>
                  <a:srgbClr val="7C93A3"/>
                </a:solidFill>
                <a:latin typeface="Inter"/>
                <a:ea typeface="Inter"/>
              </a:rPr>
              <a:t>outcome_observe_days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619500" y="444817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30 </a:t>
            </a:r>
            <a:r>
              <a:rPr lang="zh-CN" sz="975">
                <a:solidFill>
                  <a:srgbClr val="10202E"/>
                </a:solidFill>
                <a:latin typeface="Source Han Sans SC"/>
                <a:ea typeface="Source Han Sans SC"/>
              </a:rPr>
              <a:t>天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5295900" y="4381500"/>
            <a:ext cx="476250" cy="285750"/>
          </a:xfrm>
          <a:prstGeom prst="roundRect">
            <a:avLst>
              <a:gd name="adj" fmla="val 6667"/>
            </a:avLst>
          </a:prstGeom>
          <a:solidFill>
            <a:srgbClr val="10202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372100" y="4400550"/>
            <a:ext cx="323850" cy="247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88" b="1" spc="45">
                <a:solidFill>
                  <a:srgbClr val="7C93A3"/>
                </a:solidFill>
                <a:latin typeface="Source Han Sans SC"/>
                <a:ea typeface="Source Han Sans SC"/>
              </a:rPr>
              <a:t>待确认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553200" y="4419600"/>
            <a:ext cx="5029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当前只做提示、不阻断回评；阈值决定何时算「满期」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09600" y="4772025"/>
            <a:ext cx="109728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09600" y="4772025"/>
            <a:ext cx="10972800" cy="495300"/>
          </a:xfrm>
          <a:custGeom>
            <a:pathLst>
              <a:path w="1152" h="52">
                <a:moveTo>
                  <a:pt x="0" y="51"/>
                </a:moveTo>
                <a:lnTo>
                  <a:pt x="1152" y="51"/>
                </a:lnTo>
                <a:lnTo>
                  <a:pt x="115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10202E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62000" y="4829175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13" b="1">
                <a:solidFill>
                  <a:srgbClr val="10202E"/>
                </a:solidFill>
                <a:latin typeface="Source Han Sans SC"/>
                <a:ea typeface="Source Han Sans SC"/>
              </a:rPr>
              <a:t>推荐推送比例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62000" y="5048250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13">
                <a:solidFill>
                  <a:srgbClr val="7C93A3"/>
                </a:solidFill>
                <a:latin typeface="Inter"/>
                <a:ea typeface="Inter"/>
              </a:rPr>
              <a:t>push_ratio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619500" y="4933950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0202E"/>
                </a:solidFill>
                <a:latin typeface="Source Han Sans SC"/>
                <a:ea typeface="Source Han Sans SC"/>
              </a:rPr>
              <a:t>1 : 1.5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5295900" y="4867275"/>
            <a:ext cx="476250" cy="285750"/>
          </a:xfrm>
          <a:prstGeom prst="roundRect">
            <a:avLst>
              <a:gd name="adj" fmla="val 6667"/>
            </a:avLst>
          </a:prstGeom>
          <a:solidFill>
            <a:srgbClr val="10202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372100" y="4886325"/>
            <a:ext cx="323850" cy="247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88" b="1" spc="45">
                <a:solidFill>
                  <a:srgbClr val="7C93A3"/>
                </a:solidFill>
                <a:latin typeface="Source Han Sans SC"/>
                <a:ea typeface="Source Han Sans SC"/>
              </a:rPr>
              <a:t>待确认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553200" y="4905375"/>
            <a:ext cx="5029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决定每个岗位的推荐量与专员筛选强度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5257800"/>
            <a:ext cx="10972800" cy="4857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09600" y="5257800"/>
            <a:ext cx="10972800" cy="495300"/>
          </a:xfrm>
          <a:custGeom>
            <a:pathLst>
              <a:path w="1152" h="52">
                <a:moveTo>
                  <a:pt x="0" y="51"/>
                </a:moveTo>
                <a:lnTo>
                  <a:pt x="1152" y="51"/>
                </a:lnTo>
                <a:lnTo>
                  <a:pt x="1152" y="52"/>
                </a:lnTo>
                <a:lnTo>
                  <a:pt x="0" y="52"/>
                </a:lnTo>
                <a:close/>
              </a:path>
            </a:pathLst>
          </a:custGeom>
          <a:solidFill>
            <a:srgbClr val="10202E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762000" y="5314950"/>
            <a:ext cx="2857500" cy="209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13" b="1">
                <a:solidFill>
                  <a:srgbClr val="10202E"/>
                </a:solidFill>
                <a:latin typeface="Source Han Sans SC"/>
                <a:ea typeface="Source Han Sans SC"/>
              </a:rPr>
              <a:t>简历保留期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62000" y="5534025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713">
                <a:solidFill>
                  <a:srgbClr val="7C93A3"/>
                </a:solidFill>
                <a:latin typeface="Inter"/>
                <a:ea typeface="Inter"/>
              </a:rPr>
              <a:t>resume_retention_months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3619500" y="5419725"/>
            <a:ext cx="1676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0202E"/>
                </a:solidFill>
                <a:latin typeface="Source Han Sans SC"/>
                <a:ea typeface="Source Han Sans SC"/>
              </a:rPr>
              <a:t xml:space="preserve">24 </a:t>
            </a:r>
            <a:r>
              <a:rPr lang="zh-CN" sz="975">
                <a:solidFill>
                  <a:srgbClr val="10202E"/>
                </a:solidFill>
                <a:latin typeface="Source Han Sans SC"/>
                <a:ea typeface="Source Han Sans SC"/>
              </a:rPr>
              <a:t>个月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5295900" y="5353050"/>
            <a:ext cx="476250" cy="285750"/>
          </a:xfrm>
          <a:prstGeom prst="roundRect">
            <a:avLst>
              <a:gd name="adj" fmla="val 6667"/>
            </a:avLst>
          </a:prstGeom>
          <a:solidFill>
            <a:srgbClr val="10202E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372100" y="5372100"/>
            <a:ext cx="323850" cy="247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788" b="1" spc="45">
                <a:solidFill>
                  <a:srgbClr val="7C93A3"/>
                </a:solidFill>
                <a:latin typeface="Source Han Sans SC"/>
                <a:ea typeface="Source Han Sans SC"/>
              </a:rPr>
              <a:t>待确认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553200" y="5391150"/>
            <a:ext cx="50292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10202E">
                    <a:alpha val="70000"/>
                  </a:srgbClr>
                </a:solidFill>
                <a:latin typeface="Source Han Sans SC"/>
                <a:ea typeface="Source Han Sans SC"/>
              </a:rPr>
              <a:t>需法务确认后才执行删除，当前仅登记为待确认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09600" y="5915025"/>
            <a:ext cx="57150" cy="57150"/>
          </a:xfrm>
          <a:prstGeom prst="rect">
            <a:avLst/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42950" y="5838825"/>
            <a:ext cx="95250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10202E">
                    <a:alpha val="66000"/>
                  </a:srgbClr>
                </a:solidFill>
                <a:latin typeface="Source Han Sans SC"/>
                <a:ea typeface="Source Han Sans SC"/>
                <a:cs typeface="+mn-cs"/>
              </a:rPr>
              <a:t>标色三行会直接影响试运行数据的可比性，建议优先定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6143625"/>
            <a:ext cx="10972800" cy="9525"/>
          </a:xfrm>
          <a:prstGeom prst="rect">
            <a:avLst/>
          </a:prstGeom>
          <a:solidFill>
            <a:srgbClr val="10202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6286500"/>
            <a:ext cx="57150" cy="57150"/>
          </a:xfrm>
          <a:prstGeom prst="rect">
            <a:avLst/>
          </a:prstGeom>
          <a:solidFill>
            <a:srgbClr val="C85A32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163300" y="6238875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45">
                <a:solidFill>
                  <a:srgbClr val="7C93A3"/>
                </a:solidFill>
                <a:latin typeface="Inter"/>
                <a:ea typeface="Inter"/>
              </a:rPr>
              <a:t>05 / 05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2026-10-25T15:09:54Z</dcterms:created>
  <dcterms:modified xsi:type="dcterms:W3CDTF">2026-10-25T15:09:54Z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{"AIGC":{"Label":"1","ContentProducer":"00119111010856365494821B355","ProduceID":"01a171bd3d307ba3a05a15eee131d411","ReservedCode1":"","ContentPropagator":"00119111010856365494821B355","PropagateID":"01a171bd3d307ba3a05a15eee131d411","ReservedCode2":""}}</vt:lpwstr>
  </property>
</Properties>
</file>